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" charset="1" panose="00000500000000000000"/>
      <p:regular r:id="rId17"/>
    </p:embeddedFont>
    <p:embeddedFont>
      <p:font typeface="Montserrat Bold" charset="1" panose="00000800000000000000"/>
      <p:regular r:id="rId18"/>
    </p:embeddedFont>
    <p:embeddedFont>
      <p:font typeface="Montserrat Semi-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https://drive.google.com/file/d/1Vcc7Qkap6SO8cSctWwiOIdbTolcdF5nL/view?usp=sharing" TargetMode="External" Type="http://schemas.openxmlformats.org/officeDocument/2006/relationships/hyperlink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08491" y="416513"/>
            <a:ext cx="2770529" cy="2770529"/>
          </a:xfrm>
          <a:custGeom>
            <a:avLst/>
            <a:gdLst/>
            <a:ahLst/>
            <a:cxnLst/>
            <a:rect r="r" b="b" t="t" l="l"/>
            <a:pathLst>
              <a:path h="2770529" w="2770529">
                <a:moveTo>
                  <a:pt x="0" y="0"/>
                </a:moveTo>
                <a:lnTo>
                  <a:pt x="2770528" y="0"/>
                </a:lnTo>
                <a:lnTo>
                  <a:pt x="2770528" y="2770529"/>
                </a:lnTo>
                <a:lnTo>
                  <a:pt x="0" y="2770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89901" y="2244932"/>
            <a:ext cx="9913043" cy="1094510"/>
            <a:chOff x="0" y="0"/>
            <a:chExt cx="2610843" cy="288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10843" cy="288266"/>
            </a:xfrm>
            <a:custGeom>
              <a:avLst/>
              <a:gdLst/>
              <a:ahLst/>
              <a:cxnLst/>
              <a:rect r="r" b="b" t="t" l="l"/>
              <a:pathLst>
                <a:path h="288266" w="2610843">
                  <a:moveTo>
                    <a:pt x="78098" y="0"/>
                  </a:moveTo>
                  <a:lnTo>
                    <a:pt x="2532744" y="0"/>
                  </a:lnTo>
                  <a:cubicBezTo>
                    <a:pt x="2553457" y="0"/>
                    <a:pt x="2573322" y="8228"/>
                    <a:pt x="2587968" y="22874"/>
                  </a:cubicBezTo>
                  <a:cubicBezTo>
                    <a:pt x="2602614" y="37521"/>
                    <a:pt x="2610843" y="57385"/>
                    <a:pt x="2610843" y="78098"/>
                  </a:cubicBezTo>
                  <a:lnTo>
                    <a:pt x="2610843" y="210168"/>
                  </a:lnTo>
                  <a:cubicBezTo>
                    <a:pt x="2610843" y="253300"/>
                    <a:pt x="2575877" y="288266"/>
                    <a:pt x="2532744" y="288266"/>
                  </a:cubicBezTo>
                  <a:lnTo>
                    <a:pt x="78098" y="288266"/>
                  </a:lnTo>
                  <a:cubicBezTo>
                    <a:pt x="57385" y="288266"/>
                    <a:pt x="37521" y="280038"/>
                    <a:pt x="22874" y="265392"/>
                  </a:cubicBezTo>
                  <a:cubicBezTo>
                    <a:pt x="8228" y="250745"/>
                    <a:pt x="0" y="230881"/>
                    <a:pt x="0" y="210168"/>
                  </a:cubicBezTo>
                  <a:lnTo>
                    <a:pt x="0" y="78098"/>
                  </a:lnTo>
                  <a:cubicBezTo>
                    <a:pt x="0" y="57385"/>
                    <a:pt x="8228" y="37521"/>
                    <a:pt x="22874" y="22874"/>
                  </a:cubicBezTo>
                  <a:cubicBezTo>
                    <a:pt x="37521" y="8228"/>
                    <a:pt x="57385" y="0"/>
                    <a:pt x="780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10843" cy="326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35704" y="2401360"/>
            <a:ext cx="2288684" cy="785681"/>
            <a:chOff x="0" y="0"/>
            <a:chExt cx="602781" cy="206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2781" cy="206928"/>
            </a:xfrm>
            <a:custGeom>
              <a:avLst/>
              <a:gdLst/>
              <a:ahLst/>
              <a:cxnLst/>
              <a:rect r="r" b="b" t="t" l="l"/>
              <a:pathLst>
                <a:path h="206928" w="602781">
                  <a:moveTo>
                    <a:pt x="103464" y="0"/>
                  </a:moveTo>
                  <a:lnTo>
                    <a:pt x="499317" y="0"/>
                  </a:lnTo>
                  <a:cubicBezTo>
                    <a:pt x="556458" y="0"/>
                    <a:pt x="602781" y="46322"/>
                    <a:pt x="602781" y="103464"/>
                  </a:cubicBezTo>
                  <a:lnTo>
                    <a:pt x="602781" y="103464"/>
                  </a:lnTo>
                  <a:cubicBezTo>
                    <a:pt x="602781" y="130905"/>
                    <a:pt x="591880" y="157221"/>
                    <a:pt x="572477" y="176624"/>
                  </a:cubicBezTo>
                  <a:cubicBezTo>
                    <a:pt x="553074" y="196028"/>
                    <a:pt x="526757" y="206928"/>
                    <a:pt x="499317" y="206928"/>
                  </a:cubicBezTo>
                  <a:lnTo>
                    <a:pt x="103464" y="206928"/>
                  </a:lnTo>
                  <a:cubicBezTo>
                    <a:pt x="46322" y="206928"/>
                    <a:pt x="0" y="160606"/>
                    <a:pt x="0" y="103464"/>
                  </a:cubicBezTo>
                  <a:lnTo>
                    <a:pt x="0" y="103464"/>
                  </a:lnTo>
                  <a:cubicBezTo>
                    <a:pt x="0" y="46322"/>
                    <a:pt x="46322" y="0"/>
                    <a:pt x="103464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02781" cy="245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9019" y="0"/>
            <a:ext cx="4264059" cy="10287000"/>
            <a:chOff x="0" y="0"/>
            <a:chExt cx="1123044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0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3044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7189531"/>
            <a:ext cx="10191361" cy="2068769"/>
            <a:chOff x="0" y="0"/>
            <a:chExt cx="2684145" cy="5448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84144" cy="544861"/>
            </a:xfrm>
            <a:custGeom>
              <a:avLst/>
              <a:gdLst/>
              <a:ahLst/>
              <a:cxnLst/>
              <a:rect r="r" b="b" t="t" l="l"/>
              <a:pathLst>
                <a:path h="544861" w="2684144">
                  <a:moveTo>
                    <a:pt x="38742" y="0"/>
                  </a:moveTo>
                  <a:lnTo>
                    <a:pt x="2645402" y="0"/>
                  </a:lnTo>
                  <a:cubicBezTo>
                    <a:pt x="2655677" y="0"/>
                    <a:pt x="2665531" y="4082"/>
                    <a:pt x="2672797" y="11347"/>
                  </a:cubicBezTo>
                  <a:cubicBezTo>
                    <a:pt x="2680063" y="18613"/>
                    <a:pt x="2684144" y="28467"/>
                    <a:pt x="2684144" y="38742"/>
                  </a:cubicBezTo>
                  <a:lnTo>
                    <a:pt x="2684144" y="506119"/>
                  </a:lnTo>
                  <a:cubicBezTo>
                    <a:pt x="2684144" y="527515"/>
                    <a:pt x="2666799" y="544861"/>
                    <a:pt x="2645402" y="544861"/>
                  </a:cubicBezTo>
                  <a:lnTo>
                    <a:pt x="38742" y="544861"/>
                  </a:lnTo>
                  <a:cubicBezTo>
                    <a:pt x="17346" y="544861"/>
                    <a:pt x="0" y="527515"/>
                    <a:pt x="0" y="506119"/>
                  </a:cubicBezTo>
                  <a:lnTo>
                    <a:pt x="0" y="38742"/>
                  </a:lnTo>
                  <a:cubicBezTo>
                    <a:pt x="0" y="17346"/>
                    <a:pt x="17346" y="0"/>
                    <a:pt x="38742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84145" cy="582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1100" y="7341931"/>
            <a:ext cx="3075708" cy="776477"/>
            <a:chOff x="0" y="0"/>
            <a:chExt cx="810063" cy="2045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39643" y="7439573"/>
            <a:ext cx="581194" cy="58119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63925" y="5471662"/>
            <a:ext cx="11644253" cy="57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sz="3411" spc="-197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that guards every mile!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82493" y="4110967"/>
            <a:ext cx="9507436" cy="104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Vigilant Drive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528879" y="3378391"/>
            <a:ext cx="4574117" cy="9480035"/>
          </a:xfrm>
          <a:custGeom>
            <a:avLst/>
            <a:gdLst/>
            <a:ahLst/>
            <a:cxnLst/>
            <a:rect r="r" b="b" t="t" l="l"/>
            <a:pathLst>
              <a:path h="9480035" w="4574117">
                <a:moveTo>
                  <a:pt x="0" y="0"/>
                </a:moveTo>
                <a:lnTo>
                  <a:pt x="4574117" y="0"/>
                </a:lnTo>
                <a:lnTo>
                  <a:pt x="4574117" y="9480035"/>
                </a:lnTo>
                <a:lnTo>
                  <a:pt x="0" y="948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730731" y="2244932"/>
            <a:ext cx="2160637" cy="2160637"/>
          </a:xfrm>
          <a:custGeom>
            <a:avLst/>
            <a:gdLst/>
            <a:ahLst/>
            <a:cxnLst/>
            <a:rect r="r" b="b" t="t" l="l"/>
            <a:pathLst>
              <a:path h="2160637" w="2160637">
                <a:moveTo>
                  <a:pt x="0" y="0"/>
                </a:moveTo>
                <a:lnTo>
                  <a:pt x="2160636" y="0"/>
                </a:lnTo>
                <a:lnTo>
                  <a:pt x="2160636" y="2160636"/>
                </a:lnTo>
                <a:lnTo>
                  <a:pt x="0" y="2160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135053" y="2339682"/>
            <a:ext cx="3289986" cy="819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7"/>
              </a:lnSpc>
              <a:spcBef>
                <a:spcPct val="0"/>
              </a:spcBef>
            </a:pPr>
            <a:r>
              <a:rPr lang="en-US" b="true" sz="4869" spc="9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24388" y="2426761"/>
            <a:ext cx="6439224" cy="75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31"/>
              </a:lnSpc>
              <a:spcBef>
                <a:spcPct val="0"/>
              </a:spcBef>
            </a:pPr>
            <a:r>
              <a:rPr lang="en-US" sz="4451" spc="8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MINT HACKATHON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3647" y="947092"/>
            <a:ext cx="6053794" cy="5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5"/>
              </a:lnSpc>
            </a:pPr>
            <a:r>
              <a:rPr lang="en-US" b="true" sz="4216" spc="8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LOCOMAKERS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9789" y="8422095"/>
            <a:ext cx="8840801" cy="48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7"/>
              </a:lnSpc>
            </a:pPr>
            <a:r>
              <a:rPr lang="en-US" b="true" sz="3451" spc="-245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AI FOR SAFE AND SUSTAINABLE MOBILITY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5357" y="7560805"/>
            <a:ext cx="2037135" cy="53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b="true" sz="3851" spc="-273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4782" y="2818747"/>
            <a:ext cx="1543050" cy="154305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283638" y="824685"/>
            <a:ext cx="577379" cy="5773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98663" y="7017227"/>
            <a:ext cx="2160637" cy="2160637"/>
          </a:xfrm>
          <a:custGeom>
            <a:avLst/>
            <a:gdLst/>
            <a:ahLst/>
            <a:cxnLst/>
            <a:rect r="r" b="b" t="t" l="l"/>
            <a:pathLst>
              <a:path h="2160637" w="2160637">
                <a:moveTo>
                  <a:pt x="0" y="0"/>
                </a:moveTo>
                <a:lnTo>
                  <a:pt x="2160637" y="0"/>
                </a:lnTo>
                <a:lnTo>
                  <a:pt x="2160637" y="2160637"/>
                </a:lnTo>
                <a:lnTo>
                  <a:pt x="0" y="2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41130" y="8133768"/>
            <a:ext cx="581194" cy="5811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14639" y="7987198"/>
            <a:ext cx="577379" cy="57737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411702" y="7959348"/>
            <a:ext cx="2580316" cy="2580316"/>
          </a:xfrm>
          <a:custGeom>
            <a:avLst/>
            <a:gdLst/>
            <a:ahLst/>
            <a:cxnLst/>
            <a:rect r="r" b="b" t="t" l="l"/>
            <a:pathLst>
              <a:path h="2580316" w="2580316">
                <a:moveTo>
                  <a:pt x="0" y="0"/>
                </a:moveTo>
                <a:lnTo>
                  <a:pt x="2580316" y="0"/>
                </a:lnTo>
                <a:lnTo>
                  <a:pt x="2580316" y="2580316"/>
                </a:lnTo>
                <a:lnTo>
                  <a:pt x="0" y="25803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861204" y="2354841"/>
            <a:ext cx="12549386" cy="44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53"/>
              </a:lnSpc>
            </a:pPr>
            <a:r>
              <a:rPr lang="en-US" sz="4313" spc="-38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Fatigue and distraction contribute to 20–25% of global road accidents, yet most vehicles lack real-time monitoring systems. Current solutions are reactive rather than preventive, leaving drivers and transport ecosystems at risk. Addressing this challenge is crucial for safer and more sustainable mobility.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28539" y="1089967"/>
            <a:ext cx="8299293" cy="81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9"/>
              </a:lnSpc>
            </a:pPr>
            <a:r>
              <a:rPr lang="en-US" b="true" sz="6633" spc="-38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527770" y="-838941"/>
            <a:ext cx="2580316" cy="2580316"/>
          </a:xfrm>
          <a:custGeom>
            <a:avLst/>
            <a:gdLst/>
            <a:ahLst/>
            <a:cxnLst/>
            <a:rect r="r" b="b" t="t" l="l"/>
            <a:pathLst>
              <a:path h="2580316" w="2580316">
                <a:moveTo>
                  <a:pt x="0" y="0"/>
                </a:moveTo>
                <a:lnTo>
                  <a:pt x="2580315" y="0"/>
                </a:lnTo>
                <a:lnTo>
                  <a:pt x="2580315" y="2580316"/>
                </a:lnTo>
                <a:lnTo>
                  <a:pt x="0" y="25803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584782" y="7806948"/>
            <a:ext cx="577379" cy="57737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9820" y="7806948"/>
            <a:ext cx="3380381" cy="2068769"/>
            <a:chOff x="0" y="0"/>
            <a:chExt cx="890306" cy="5448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0306" cy="544861"/>
            </a:xfrm>
            <a:custGeom>
              <a:avLst/>
              <a:gdLst/>
              <a:ahLst/>
              <a:cxnLst/>
              <a:rect r="r" b="b" t="t" l="l"/>
              <a:pathLst>
                <a:path h="544861" w="890306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428058"/>
                  </a:lnTo>
                  <a:cubicBezTo>
                    <a:pt x="890306" y="492567"/>
                    <a:pt x="838012" y="544861"/>
                    <a:pt x="773503" y="544861"/>
                  </a:cubicBezTo>
                  <a:lnTo>
                    <a:pt x="116803" y="544861"/>
                  </a:lnTo>
                  <a:cubicBezTo>
                    <a:pt x="52294" y="544861"/>
                    <a:pt x="0" y="492567"/>
                    <a:pt x="0" y="428058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90306" cy="582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42220" y="7959348"/>
            <a:ext cx="3075708" cy="776477"/>
            <a:chOff x="0" y="0"/>
            <a:chExt cx="810063" cy="204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100762" y="8056990"/>
            <a:ext cx="581194" cy="58119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70909" y="9020462"/>
            <a:ext cx="2618330" cy="50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WHERE INNOVATION MEETS OPPORTUNITY.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6477" y="8168697"/>
            <a:ext cx="2037135" cy="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85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4572" y="627964"/>
            <a:ext cx="2110981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92906" y="1840347"/>
            <a:ext cx="1766394" cy="176639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4572" y="627964"/>
            <a:ext cx="2051400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13641" y="1025654"/>
            <a:ext cx="8183598" cy="81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69"/>
              </a:lnSpc>
            </a:pPr>
            <a:r>
              <a:rPr lang="en-US" b="true" sz="6633" spc="-38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1581" y="2307006"/>
            <a:ext cx="15707719" cy="220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1"/>
              </a:lnSpc>
            </a:pPr>
            <a:r>
              <a:rPr lang="en-US" sz="2799" spc="-1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VigilantDrive is an AI-powered driver monitoring system that detects drowsiness and distraction in real time using facial landmark tracking and deep learning. The system continuously analyzes eye closure, yawning, and head movements through a camera feed. When signs of fatigue are detected, it triggers visual and auditory alerts to refocus driver attention and prevent accidents.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92033" y="4824095"/>
            <a:ext cx="13784071" cy="443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AI-</a:t>
            </a:r>
            <a:r>
              <a:rPr lang="en-US" sz="2799" spc="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Driven Detection: Uses CNN-based facial analysis and OpenCV for accurate fatigue and distraction recognition.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Proactive Safety Mechanism: Provides early alerts before accidents occur — not just after driver failure.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Lightweight &amp; Real-Time: Works efficiently on embedded systems or dashboards without internet dependency.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Scalable for All Vehicles: Adaptable for personal, public, and commercial transport fleets.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0265" y="341540"/>
            <a:ext cx="17587469" cy="9603920"/>
            <a:chOff x="0" y="0"/>
            <a:chExt cx="4632091" cy="2529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2091" cy="2529427"/>
            </a:xfrm>
            <a:custGeom>
              <a:avLst/>
              <a:gdLst/>
              <a:ahLst/>
              <a:cxnLst/>
              <a:rect r="r" b="b" t="t" l="l"/>
              <a:pathLst>
                <a:path h="2529427" w="463209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06977"/>
                  </a:lnTo>
                  <a:cubicBezTo>
                    <a:pt x="4632091" y="2519376"/>
                    <a:pt x="4622039" y="2529427"/>
                    <a:pt x="4609641" y="2529427"/>
                  </a:cubicBezTo>
                  <a:lnTo>
                    <a:pt x="22450" y="2529427"/>
                  </a:lnTo>
                  <a:cubicBezTo>
                    <a:pt x="10051" y="2529427"/>
                    <a:pt x="0" y="2519376"/>
                    <a:pt x="0" y="2506977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2091" cy="256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36419" y="924288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65001" y="8346801"/>
            <a:ext cx="1822999" cy="182299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35435" y="8917235"/>
            <a:ext cx="682130" cy="6821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014013" y="7723491"/>
            <a:ext cx="2728557" cy="2387487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59052" y="3643355"/>
            <a:ext cx="12661441" cy="554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4" indent="-356232" lvl="1">
              <a:lnSpc>
                <a:spcPts val="4949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Enhanced Safety: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Early detection prevents up to 25% of fatigue-related crashes, protecting drivers and pedestrians.</a:t>
            </a:r>
          </a:p>
          <a:p>
            <a:pPr algn="just" marL="712464" indent="-356232" lvl="1">
              <a:lnSpc>
                <a:spcPts val="4949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Sustainable Mobility: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Fewer accidents reduce traffic congestion, fuel waste, and carbon emissions.</a:t>
            </a:r>
          </a:p>
          <a:p>
            <a:pPr algn="just" marL="712464" indent="-356232" lvl="1">
              <a:lnSpc>
                <a:spcPts val="4949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Economic Efficiency: 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Lowers costs for logistics firms, insurers, and public agencies by minimizing road incidents.</a:t>
            </a:r>
          </a:p>
          <a:p>
            <a:pPr algn="just" marL="712464" indent="-356232" lvl="1">
              <a:lnSpc>
                <a:spcPts val="4949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 Inclusion: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Promotes safe working conditions for professional drivers and supports accessible urban mobility for all.</a:t>
            </a:r>
          </a:p>
          <a:p>
            <a:pPr algn="just">
              <a:lnSpc>
                <a:spcPts val="49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507438" y="1940742"/>
            <a:ext cx="9164670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 World 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572" y="627964"/>
            <a:ext cx="2051400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  <p:grpSp>
        <p:nvGrpSpPr>
          <p:cNvPr name="Group 18" id="18"/>
          <p:cNvGrpSpPr/>
          <p:nvPr/>
        </p:nvGrpSpPr>
        <p:grpSpPr>
          <a:xfrm rot="-5400000">
            <a:off x="210776" y="5585226"/>
            <a:ext cx="3075708" cy="776477"/>
            <a:chOff x="0" y="0"/>
            <a:chExt cx="810063" cy="2045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458033" y="4571582"/>
            <a:ext cx="581194" cy="58119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1703" y="0"/>
            <a:ext cx="4264059" cy="10287000"/>
            <a:chOff x="0" y="0"/>
            <a:chExt cx="112304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30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3044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5503" y="3186915"/>
            <a:ext cx="5180101" cy="5064248"/>
            <a:chOff x="0" y="0"/>
            <a:chExt cx="1079569" cy="1055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569" cy="1055424"/>
            </a:xfrm>
            <a:custGeom>
              <a:avLst/>
              <a:gdLst/>
              <a:ahLst/>
              <a:cxnLst/>
              <a:rect r="r" b="b" t="t" l="l"/>
              <a:pathLst>
                <a:path h="1055424" w="1079569">
                  <a:moveTo>
                    <a:pt x="47826" y="0"/>
                  </a:moveTo>
                  <a:lnTo>
                    <a:pt x="1031743" y="0"/>
                  </a:lnTo>
                  <a:cubicBezTo>
                    <a:pt x="1044427" y="0"/>
                    <a:pt x="1056592" y="5039"/>
                    <a:pt x="1065561" y="14008"/>
                  </a:cubicBezTo>
                  <a:cubicBezTo>
                    <a:pt x="1074530" y="22977"/>
                    <a:pt x="1079569" y="35141"/>
                    <a:pt x="1079569" y="47826"/>
                  </a:cubicBezTo>
                  <a:lnTo>
                    <a:pt x="1079569" y="1007599"/>
                  </a:lnTo>
                  <a:cubicBezTo>
                    <a:pt x="1079569" y="1020283"/>
                    <a:pt x="1074530" y="1032447"/>
                    <a:pt x="1065561" y="1041416"/>
                  </a:cubicBezTo>
                  <a:cubicBezTo>
                    <a:pt x="1056592" y="1050385"/>
                    <a:pt x="1044427" y="1055424"/>
                    <a:pt x="1031743" y="1055424"/>
                  </a:cubicBezTo>
                  <a:lnTo>
                    <a:pt x="47826" y="1055424"/>
                  </a:lnTo>
                  <a:cubicBezTo>
                    <a:pt x="35141" y="1055424"/>
                    <a:pt x="22977" y="1050385"/>
                    <a:pt x="14008" y="1041416"/>
                  </a:cubicBezTo>
                  <a:cubicBezTo>
                    <a:pt x="5039" y="1032447"/>
                    <a:pt x="0" y="1020283"/>
                    <a:pt x="0" y="1007599"/>
                  </a:cubicBezTo>
                  <a:lnTo>
                    <a:pt x="0" y="47826"/>
                  </a:lnTo>
                  <a:cubicBezTo>
                    <a:pt x="0" y="35141"/>
                    <a:pt x="5039" y="22977"/>
                    <a:pt x="14008" y="14008"/>
                  </a:cubicBezTo>
                  <a:cubicBezTo>
                    <a:pt x="22977" y="5039"/>
                    <a:pt x="35141" y="0"/>
                    <a:pt x="47826" y="0"/>
                  </a:cubicBezTo>
                  <a:close/>
                </a:path>
              </a:pathLst>
            </a:custGeom>
            <a:blipFill>
              <a:blip r:embed="rId2"/>
              <a:stretch>
                <a:fillRect l="-23322" t="0" r="-2332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039180" y="2629295"/>
            <a:ext cx="1822999" cy="182299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09614" y="3199730"/>
            <a:ext cx="682130" cy="68213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270227" y="8251163"/>
            <a:ext cx="1371656" cy="1371656"/>
          </a:xfrm>
          <a:custGeom>
            <a:avLst/>
            <a:gdLst/>
            <a:ahLst/>
            <a:cxnLst/>
            <a:rect r="r" b="b" t="t" l="l"/>
            <a:pathLst>
              <a:path h="1371656" w="1371656">
                <a:moveTo>
                  <a:pt x="0" y="0"/>
                </a:moveTo>
                <a:lnTo>
                  <a:pt x="1371656" y="0"/>
                </a:lnTo>
                <a:lnTo>
                  <a:pt x="1371656" y="1371656"/>
                </a:lnTo>
                <a:lnTo>
                  <a:pt x="0" y="1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4572" y="627964"/>
            <a:ext cx="2110981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02466" y="1475512"/>
            <a:ext cx="13531887" cy="86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9"/>
              </a:lnSpc>
            </a:pPr>
            <a:r>
              <a:rPr lang="en-US" b="true" sz="7033" spc="-407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Stakeholders &amp; Beneficiaries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76732" y="3436211"/>
            <a:ext cx="10093495" cy="565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7" indent="-356233" lvl="1">
              <a:lnSpc>
                <a:spcPts val="4091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Individual Drivers: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Gain real-time safety assistance during long or late-night drives.</a:t>
            </a:r>
          </a:p>
          <a:p>
            <a:pPr algn="just" marL="712467" indent="-356233" lvl="1">
              <a:lnSpc>
                <a:spcPts val="4091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Transport &amp; Logistics Companies: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Improve operational reliability and driver welfare.</a:t>
            </a:r>
          </a:p>
          <a:p>
            <a:pPr algn="just" marL="712467" indent="-356233" lvl="1">
              <a:lnSpc>
                <a:spcPts val="4091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Government &amp; Smart City Programs: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Integrate VigilantDrive into Intelligent Transport Systems (ITS) to support safer, data-driven road management.</a:t>
            </a:r>
          </a:p>
          <a:p>
            <a:pPr algn="just" marL="712467" indent="-356233" lvl="1">
              <a:lnSpc>
                <a:spcPts val="4091"/>
              </a:lnSpc>
              <a:buFont typeface="Arial"/>
              <a:buChar char="•"/>
            </a:pPr>
            <a:r>
              <a:rPr lang="en-US" b="true" sz="3299" spc="-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&amp; Communities:</a:t>
            </a:r>
            <a:r>
              <a:rPr lang="en-US" sz="3299" spc="-21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Benefit from safer roads, reduced emissions, and fewer disruptions.</a:t>
            </a:r>
          </a:p>
          <a:p>
            <a:pPr algn="just">
              <a:lnSpc>
                <a:spcPts val="409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919066"/>
            <a:ext cx="18288000" cy="5367934"/>
            <a:chOff x="0" y="0"/>
            <a:chExt cx="4816593" cy="141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413777"/>
            </a:xfrm>
            <a:custGeom>
              <a:avLst/>
              <a:gdLst/>
              <a:ahLst/>
              <a:cxnLst/>
              <a:rect r="r" b="b" t="t" l="l"/>
              <a:pathLst>
                <a:path h="1413777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1392187"/>
                  </a:lnTo>
                  <a:cubicBezTo>
                    <a:pt x="4816592" y="1404111"/>
                    <a:pt x="4806926" y="1413777"/>
                    <a:pt x="4795002" y="1413777"/>
                  </a:cubicBezTo>
                  <a:lnTo>
                    <a:pt x="21590" y="1413777"/>
                  </a:lnTo>
                  <a:cubicBezTo>
                    <a:pt x="15864" y="1413777"/>
                    <a:pt x="10372" y="1411502"/>
                    <a:pt x="6324" y="1407453"/>
                  </a:cubicBezTo>
                  <a:cubicBezTo>
                    <a:pt x="2275" y="1403404"/>
                    <a:pt x="0" y="1397913"/>
                    <a:pt x="0" y="1392187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451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02253" y="637452"/>
            <a:ext cx="5712398" cy="8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1"/>
              </a:lnSpc>
            </a:pPr>
            <a:r>
              <a:rPr lang="en-US" b="true" sz="6801" spc="-3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056893" y="-938312"/>
            <a:ext cx="2770529" cy="2770529"/>
          </a:xfrm>
          <a:custGeom>
            <a:avLst/>
            <a:gdLst/>
            <a:ahLst/>
            <a:cxnLst/>
            <a:rect r="r" b="b" t="t" l="l"/>
            <a:pathLst>
              <a:path h="2770529" w="2770529">
                <a:moveTo>
                  <a:pt x="0" y="0"/>
                </a:moveTo>
                <a:lnTo>
                  <a:pt x="2770528" y="0"/>
                </a:lnTo>
                <a:lnTo>
                  <a:pt x="2770528" y="2770528"/>
                </a:lnTo>
                <a:lnTo>
                  <a:pt x="0" y="27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6286" y="1677038"/>
            <a:ext cx="15049788" cy="3688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4917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CNN (Deep Learning): 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Detects eye closure, yawning, and head tilt.</a:t>
            </a:r>
          </a:p>
          <a:p>
            <a:pPr algn="just" marL="712470" indent="-356235" lvl="1">
              <a:lnSpc>
                <a:spcPts val="4917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OpenCV + Dlib: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Real-time face and eye landmark tracking.</a:t>
            </a:r>
          </a:p>
          <a:p>
            <a:pPr algn="just" marL="712470" indent="-356235" lvl="1">
              <a:lnSpc>
                <a:spcPts val="4917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 Module: 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 + buzzer alerts to regain attention.</a:t>
            </a:r>
          </a:p>
          <a:p>
            <a:pPr algn="just" marL="712470" indent="-356235" lvl="1">
              <a:lnSpc>
                <a:spcPts val="4917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TensorFlow Lite: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Lightweight, fast, and edge-device compatible.</a:t>
            </a:r>
          </a:p>
          <a:p>
            <a:pPr algn="just" marL="712470" indent="-356235" lvl="1">
              <a:lnSpc>
                <a:spcPts val="4917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Stack:</a:t>
            </a: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NumPy, SciPy, Imutils for data processing.</a:t>
            </a:r>
          </a:p>
          <a:p>
            <a:pPr algn="just">
              <a:lnSpc>
                <a:spcPts val="491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917541" y="3838748"/>
            <a:ext cx="2160637" cy="2160637"/>
          </a:xfrm>
          <a:custGeom>
            <a:avLst/>
            <a:gdLst/>
            <a:ahLst/>
            <a:cxnLst/>
            <a:rect r="r" b="b" t="t" l="l"/>
            <a:pathLst>
              <a:path h="2160637" w="2160637">
                <a:moveTo>
                  <a:pt x="0" y="0"/>
                </a:moveTo>
                <a:lnTo>
                  <a:pt x="2160637" y="0"/>
                </a:lnTo>
                <a:lnTo>
                  <a:pt x="2160637" y="2160637"/>
                </a:lnTo>
                <a:lnTo>
                  <a:pt x="0" y="2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4572" y="627964"/>
            <a:ext cx="2110981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6286" y="6402001"/>
            <a:ext cx="15430134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Prototype testing confirms that the m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odel achieves over 90% accuracy at 30 FPS, demonstrating that real-time drowsiness detection is practically achievable and scalable on affordable systems.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Built using readily available AI tools and low-cost hardware,</a:t>
            </a: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VigilantDrive is not just a concept — it’s a deployable reality.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28082" y="5334000"/>
            <a:ext cx="5712398" cy="8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1"/>
              </a:lnSpc>
            </a:pPr>
            <a:r>
              <a:rPr lang="en-US" b="true" sz="6801" spc="-3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Feasibility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52893" y="4032925"/>
            <a:ext cx="2158063" cy="6254075"/>
            <a:chOff x="0" y="0"/>
            <a:chExt cx="568379" cy="164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379" cy="1647164"/>
            </a:xfrm>
            <a:custGeom>
              <a:avLst/>
              <a:gdLst/>
              <a:ahLst/>
              <a:cxnLst/>
              <a:rect r="r" b="b" t="t" l="l"/>
              <a:pathLst>
                <a:path h="1647164" w="568379">
                  <a:moveTo>
                    <a:pt x="182959" y="0"/>
                  </a:moveTo>
                  <a:lnTo>
                    <a:pt x="385419" y="0"/>
                  </a:lnTo>
                  <a:cubicBezTo>
                    <a:pt x="433943" y="0"/>
                    <a:pt x="480479" y="19276"/>
                    <a:pt x="514791" y="53588"/>
                  </a:cubicBezTo>
                  <a:cubicBezTo>
                    <a:pt x="549103" y="87899"/>
                    <a:pt x="568379" y="134436"/>
                    <a:pt x="568379" y="182959"/>
                  </a:cubicBezTo>
                  <a:lnTo>
                    <a:pt x="568379" y="1464204"/>
                  </a:lnTo>
                  <a:cubicBezTo>
                    <a:pt x="568379" y="1565250"/>
                    <a:pt x="486465" y="1647164"/>
                    <a:pt x="385419" y="1647164"/>
                  </a:cubicBezTo>
                  <a:lnTo>
                    <a:pt x="182959" y="1647164"/>
                  </a:lnTo>
                  <a:cubicBezTo>
                    <a:pt x="134436" y="1647164"/>
                    <a:pt x="87899" y="1627888"/>
                    <a:pt x="53588" y="1593576"/>
                  </a:cubicBezTo>
                  <a:cubicBezTo>
                    <a:pt x="19276" y="1559265"/>
                    <a:pt x="0" y="1512728"/>
                    <a:pt x="0" y="1464204"/>
                  </a:cubicBezTo>
                  <a:lnTo>
                    <a:pt x="0" y="182959"/>
                  </a:lnTo>
                  <a:cubicBezTo>
                    <a:pt x="0" y="134436"/>
                    <a:pt x="19276" y="87899"/>
                    <a:pt x="53588" y="53588"/>
                  </a:cubicBezTo>
                  <a:cubicBezTo>
                    <a:pt x="87899" y="19276"/>
                    <a:pt x="134436" y="0"/>
                    <a:pt x="182959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379" cy="1685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92415" y="440303"/>
            <a:ext cx="9388534" cy="83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65868" y="5740659"/>
            <a:ext cx="1602254" cy="1602254"/>
          </a:xfrm>
          <a:custGeom>
            <a:avLst/>
            <a:gdLst/>
            <a:ahLst/>
            <a:cxnLst/>
            <a:rect r="r" b="b" t="t" l="l"/>
            <a:pathLst>
              <a:path h="1602254" w="1602254">
                <a:moveTo>
                  <a:pt x="0" y="0"/>
                </a:moveTo>
                <a:lnTo>
                  <a:pt x="1602254" y="0"/>
                </a:lnTo>
                <a:lnTo>
                  <a:pt x="1602254" y="1602254"/>
                </a:lnTo>
                <a:lnTo>
                  <a:pt x="0" y="160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15312" y="1205269"/>
            <a:ext cx="16652810" cy="869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1.Camera Captures Driver’s Face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video feed from a webcam or dashboard camera.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Works in varied lighting and motion c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onditions.</a:t>
            </a:r>
          </a:p>
          <a:p>
            <a:pPr algn="l">
              <a:lnSpc>
                <a:spcPts val="4620"/>
              </a:lnSpc>
            </a:pP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Facial Landmark Detection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Uses MediaPipe / Dlib to track eyes, head tilt, and yawning.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Generates key facial points for fatigue/distraction analysis.</a:t>
            </a:r>
          </a:p>
          <a:p>
            <a:pPr algn="l">
              <a:lnSpc>
                <a:spcPts val="4620"/>
              </a:lnSpc>
            </a:pP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</a:t>
            </a: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AI-Based Drowsiness &amp; Distraction Analysis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CNN Model evaluates eye closure, blink rate, and head posture.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Predicts risk of drowsiness or d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istraction in real time.</a:t>
            </a:r>
          </a:p>
          <a:p>
            <a:pPr algn="l">
              <a:lnSpc>
                <a:spcPts val="4620"/>
              </a:lnSpc>
            </a:pP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</a:t>
            </a: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 Mechanism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 Alert: Red overlay on screen.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Auditory Alert: Buzzer or alarm to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mmed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iat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ely refocus d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rive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atte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n.</a:t>
            </a:r>
          </a:p>
          <a:p>
            <a:pPr algn="l">
              <a:lnSpc>
                <a:spcPts val="4620"/>
              </a:lnSpc>
            </a:pP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  <a:r>
              <a:rPr lang="en-US" b="true" sz="3300" spc="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Optional Data Logging &amp; Analytics</a:t>
            </a:r>
          </a:p>
          <a:p>
            <a:pPr algn="l" marL="1424940" indent="-474980" lvl="2">
              <a:lnSpc>
                <a:spcPts val="4620"/>
              </a:lnSpc>
              <a:buFont typeface="Arial"/>
              <a:buChar char="⚬"/>
            </a:pP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cords drowsiness even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flee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nagement or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riv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 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havio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aly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</a:t>
            </a:r>
            <a:r>
              <a:rPr lang="en-US" sz="3300" spc="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505738" y="-316695"/>
            <a:ext cx="2158063" cy="6254075"/>
            <a:chOff x="0" y="0"/>
            <a:chExt cx="568379" cy="16471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379" cy="1647164"/>
            </a:xfrm>
            <a:custGeom>
              <a:avLst/>
              <a:gdLst/>
              <a:ahLst/>
              <a:cxnLst/>
              <a:rect r="r" b="b" t="t" l="l"/>
              <a:pathLst>
                <a:path h="1647164" w="568379">
                  <a:moveTo>
                    <a:pt x="182959" y="0"/>
                  </a:moveTo>
                  <a:lnTo>
                    <a:pt x="385419" y="0"/>
                  </a:lnTo>
                  <a:cubicBezTo>
                    <a:pt x="433943" y="0"/>
                    <a:pt x="480479" y="19276"/>
                    <a:pt x="514791" y="53588"/>
                  </a:cubicBezTo>
                  <a:cubicBezTo>
                    <a:pt x="549103" y="87899"/>
                    <a:pt x="568379" y="134436"/>
                    <a:pt x="568379" y="182959"/>
                  </a:cubicBezTo>
                  <a:lnTo>
                    <a:pt x="568379" y="1464204"/>
                  </a:lnTo>
                  <a:cubicBezTo>
                    <a:pt x="568379" y="1565250"/>
                    <a:pt x="486465" y="1647164"/>
                    <a:pt x="385419" y="1647164"/>
                  </a:cubicBezTo>
                  <a:lnTo>
                    <a:pt x="182959" y="1647164"/>
                  </a:lnTo>
                  <a:cubicBezTo>
                    <a:pt x="134436" y="1647164"/>
                    <a:pt x="87899" y="1627888"/>
                    <a:pt x="53588" y="1593576"/>
                  </a:cubicBezTo>
                  <a:cubicBezTo>
                    <a:pt x="19276" y="1559265"/>
                    <a:pt x="0" y="1512728"/>
                    <a:pt x="0" y="1464204"/>
                  </a:cubicBezTo>
                  <a:lnTo>
                    <a:pt x="0" y="182959"/>
                  </a:lnTo>
                  <a:cubicBezTo>
                    <a:pt x="0" y="134436"/>
                    <a:pt x="19276" y="87899"/>
                    <a:pt x="53588" y="53588"/>
                  </a:cubicBezTo>
                  <a:cubicBezTo>
                    <a:pt x="87899" y="19276"/>
                    <a:pt x="134436" y="0"/>
                    <a:pt x="182959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379" cy="1685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49679" y="466643"/>
            <a:ext cx="2110981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0265" y="341540"/>
            <a:ext cx="17587469" cy="9603920"/>
            <a:chOff x="0" y="0"/>
            <a:chExt cx="4632091" cy="2529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2091" cy="2529427"/>
            </a:xfrm>
            <a:custGeom>
              <a:avLst/>
              <a:gdLst/>
              <a:ahLst/>
              <a:cxnLst/>
              <a:rect r="r" b="b" t="t" l="l"/>
              <a:pathLst>
                <a:path h="2529427" w="463209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06977"/>
                  </a:lnTo>
                  <a:cubicBezTo>
                    <a:pt x="4632091" y="2519376"/>
                    <a:pt x="4622039" y="2529427"/>
                    <a:pt x="4609641" y="2529427"/>
                  </a:cubicBezTo>
                  <a:lnTo>
                    <a:pt x="22450" y="2529427"/>
                  </a:lnTo>
                  <a:cubicBezTo>
                    <a:pt x="10051" y="2529427"/>
                    <a:pt x="0" y="2519376"/>
                    <a:pt x="0" y="2506977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2091" cy="256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29113" y="729263"/>
            <a:ext cx="6679215" cy="1276880"/>
            <a:chOff x="0" y="0"/>
            <a:chExt cx="1759135" cy="336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9135" cy="336298"/>
            </a:xfrm>
            <a:custGeom>
              <a:avLst/>
              <a:gdLst/>
              <a:ahLst/>
              <a:cxnLst/>
              <a:rect r="r" b="b" t="t" l="l"/>
              <a:pathLst>
                <a:path h="336298" w="1759135">
                  <a:moveTo>
                    <a:pt x="115911" y="0"/>
                  </a:moveTo>
                  <a:lnTo>
                    <a:pt x="1643224" y="0"/>
                  </a:lnTo>
                  <a:cubicBezTo>
                    <a:pt x="1707240" y="0"/>
                    <a:pt x="1759135" y="51895"/>
                    <a:pt x="1759135" y="115911"/>
                  </a:cubicBezTo>
                  <a:lnTo>
                    <a:pt x="1759135" y="220387"/>
                  </a:lnTo>
                  <a:cubicBezTo>
                    <a:pt x="1759135" y="284403"/>
                    <a:pt x="1707240" y="336298"/>
                    <a:pt x="1643224" y="336298"/>
                  </a:cubicBezTo>
                  <a:lnTo>
                    <a:pt x="115911" y="336298"/>
                  </a:lnTo>
                  <a:cubicBezTo>
                    <a:pt x="51895" y="336298"/>
                    <a:pt x="0" y="284403"/>
                    <a:pt x="0" y="220387"/>
                  </a:cubicBezTo>
                  <a:lnTo>
                    <a:pt x="0" y="115911"/>
                  </a:lnTo>
                  <a:cubicBezTo>
                    <a:pt x="0" y="51895"/>
                    <a:pt x="51895" y="0"/>
                    <a:pt x="115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9135" cy="374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17469" y="909952"/>
            <a:ext cx="2686792" cy="915503"/>
            <a:chOff x="0" y="0"/>
            <a:chExt cx="707632" cy="2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7632" cy="241120"/>
            </a:xfrm>
            <a:custGeom>
              <a:avLst/>
              <a:gdLst/>
              <a:ahLst/>
              <a:cxnLst/>
              <a:rect r="r" b="b" t="t" l="l"/>
              <a:pathLst>
                <a:path h="241120" w="707632">
                  <a:moveTo>
                    <a:pt x="120560" y="0"/>
                  </a:moveTo>
                  <a:lnTo>
                    <a:pt x="587072" y="0"/>
                  </a:lnTo>
                  <a:cubicBezTo>
                    <a:pt x="653656" y="0"/>
                    <a:pt x="707632" y="53977"/>
                    <a:pt x="707632" y="120560"/>
                  </a:cubicBezTo>
                  <a:lnTo>
                    <a:pt x="707632" y="120560"/>
                  </a:lnTo>
                  <a:cubicBezTo>
                    <a:pt x="707632" y="187144"/>
                    <a:pt x="653656" y="241120"/>
                    <a:pt x="587072" y="241120"/>
                  </a:cubicBezTo>
                  <a:lnTo>
                    <a:pt x="120560" y="241120"/>
                  </a:lnTo>
                  <a:cubicBezTo>
                    <a:pt x="53977" y="241120"/>
                    <a:pt x="0" y="187144"/>
                    <a:pt x="0" y="120560"/>
                  </a:cubicBezTo>
                  <a:lnTo>
                    <a:pt x="0" y="120560"/>
                  </a:lnTo>
                  <a:cubicBezTo>
                    <a:pt x="0" y="53977"/>
                    <a:pt x="53977" y="0"/>
                    <a:pt x="120560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07632" cy="279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736419" y="924288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465001" y="8346801"/>
            <a:ext cx="1822999" cy="182299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35435" y="8917235"/>
            <a:ext cx="682130" cy="6821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014013" y="7723491"/>
            <a:ext cx="2728557" cy="2387487"/>
            <a:chOff x="0" y="0"/>
            <a:chExt cx="8128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196531" y="1055477"/>
            <a:ext cx="2928668" cy="56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76"/>
              </a:lnSpc>
              <a:spcBef>
                <a:spcPct val="0"/>
              </a:spcBef>
            </a:pPr>
            <a:r>
              <a:rPr lang="en-US" b="true" sz="3411" spc="6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SWOT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972247" y="2400830"/>
            <a:ext cx="4555116" cy="3247289"/>
            <a:chOff x="0" y="0"/>
            <a:chExt cx="6073488" cy="432971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073488" cy="4329719"/>
              <a:chOff x="0" y="0"/>
              <a:chExt cx="890306" cy="63468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90306" cy="634689"/>
              </a:xfrm>
              <a:custGeom>
                <a:avLst/>
                <a:gdLst/>
                <a:ahLst/>
                <a:cxnLst/>
                <a:rect r="r" b="b" t="t" l="l"/>
                <a:pathLst>
                  <a:path h="634689" w="890306">
                    <a:moveTo>
                      <a:pt x="86680" y="0"/>
                    </a:moveTo>
                    <a:lnTo>
                      <a:pt x="803626" y="0"/>
                    </a:lnTo>
                    <a:cubicBezTo>
                      <a:pt x="826615" y="0"/>
                      <a:pt x="848662" y="9132"/>
                      <a:pt x="864918" y="25388"/>
                    </a:cubicBezTo>
                    <a:cubicBezTo>
                      <a:pt x="881174" y="41644"/>
                      <a:pt x="890306" y="63691"/>
                      <a:pt x="890306" y="86680"/>
                    </a:cubicBezTo>
                    <a:lnTo>
                      <a:pt x="890306" y="548009"/>
                    </a:lnTo>
                    <a:cubicBezTo>
                      <a:pt x="890306" y="570998"/>
                      <a:pt x="881174" y="593045"/>
                      <a:pt x="864918" y="609301"/>
                    </a:cubicBezTo>
                    <a:cubicBezTo>
                      <a:pt x="848662" y="625556"/>
                      <a:pt x="826615" y="634689"/>
                      <a:pt x="803626" y="634689"/>
                    </a:cubicBezTo>
                    <a:lnTo>
                      <a:pt x="86680" y="634689"/>
                    </a:lnTo>
                    <a:cubicBezTo>
                      <a:pt x="63691" y="634689"/>
                      <a:pt x="41644" y="625556"/>
                      <a:pt x="25388" y="609301"/>
                    </a:cubicBezTo>
                    <a:cubicBezTo>
                      <a:pt x="9132" y="593045"/>
                      <a:pt x="0" y="570998"/>
                      <a:pt x="0" y="548009"/>
                    </a:cubicBezTo>
                    <a:lnTo>
                      <a:pt x="0" y="86680"/>
                    </a:lnTo>
                    <a:cubicBezTo>
                      <a:pt x="0" y="63691"/>
                      <a:pt x="9132" y="41644"/>
                      <a:pt x="25388" y="25388"/>
                    </a:cubicBezTo>
                    <a:cubicBezTo>
                      <a:pt x="41644" y="9132"/>
                      <a:pt x="63691" y="0"/>
                      <a:pt x="86680" y="0"/>
                    </a:cubicBezTo>
                    <a:close/>
                  </a:path>
                </a:pathLst>
              </a:custGeom>
              <a:solidFill>
                <a:srgbClr val="788FAE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90306" cy="6727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273815" y="273815"/>
              <a:ext cx="5526086" cy="1395087"/>
              <a:chOff x="0" y="0"/>
              <a:chExt cx="810063" cy="20450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0063" cy="204504"/>
              </a:xfrm>
              <a:custGeom>
                <a:avLst/>
                <a:gdLst/>
                <a:ahLst/>
                <a:cxnLst/>
                <a:rect r="r" b="b" t="t" l="l"/>
                <a:pathLst>
                  <a:path h="204504" w="810063">
                    <a:moveTo>
                      <a:pt x="95266" y="0"/>
                    </a:moveTo>
                    <a:lnTo>
                      <a:pt x="714797" y="0"/>
                    </a:lnTo>
                    <a:cubicBezTo>
                      <a:pt x="767411" y="0"/>
                      <a:pt x="810063" y="42652"/>
                      <a:pt x="810063" y="95266"/>
                    </a:cubicBezTo>
                    <a:lnTo>
                      <a:pt x="810063" y="109238"/>
                    </a:lnTo>
                    <a:cubicBezTo>
                      <a:pt x="810063" y="161852"/>
                      <a:pt x="767411" y="204504"/>
                      <a:pt x="714797" y="204504"/>
                    </a:cubicBezTo>
                    <a:lnTo>
                      <a:pt x="95266" y="204504"/>
                    </a:lnTo>
                    <a:cubicBezTo>
                      <a:pt x="70000" y="204504"/>
                      <a:pt x="45769" y="194467"/>
                      <a:pt x="27903" y="176601"/>
                    </a:cubicBezTo>
                    <a:cubicBezTo>
                      <a:pt x="10037" y="158736"/>
                      <a:pt x="0" y="134504"/>
                      <a:pt x="0" y="109238"/>
                    </a:cubicBezTo>
                    <a:lnTo>
                      <a:pt x="0" y="95266"/>
                    </a:lnTo>
                    <a:cubicBezTo>
                      <a:pt x="0" y="42652"/>
                      <a:pt x="42652" y="0"/>
                      <a:pt x="952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10063" cy="2426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511379" y="449246"/>
              <a:ext cx="1044225" cy="104422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A4C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684584" y="1955470"/>
              <a:ext cx="4704320" cy="2237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REAL-TIME AI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LOW-COST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SCALABLE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PROACTIVE</a:t>
              </a:r>
            </a:p>
            <a:p>
              <a:pPr algn="ctr">
                <a:lnSpc>
                  <a:spcPts val="2694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62870" y="726972"/>
              <a:ext cx="4031396" cy="486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2"/>
                </a:lnSpc>
              </a:pPr>
              <a:r>
                <a:rPr lang="en-US" b="true" sz="2613" spc="-185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Strengths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439824" y="2400830"/>
            <a:ext cx="4555116" cy="3245603"/>
            <a:chOff x="0" y="0"/>
            <a:chExt cx="6073488" cy="432747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073488" cy="4327470"/>
              <a:chOff x="0" y="0"/>
              <a:chExt cx="890306" cy="63435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90306" cy="634359"/>
              </a:xfrm>
              <a:custGeom>
                <a:avLst/>
                <a:gdLst/>
                <a:ahLst/>
                <a:cxnLst/>
                <a:rect r="r" b="b" t="t" l="l"/>
                <a:pathLst>
                  <a:path h="634359" w="890306">
                    <a:moveTo>
                      <a:pt x="86680" y="0"/>
                    </a:moveTo>
                    <a:lnTo>
                      <a:pt x="803626" y="0"/>
                    </a:lnTo>
                    <a:cubicBezTo>
                      <a:pt x="826615" y="0"/>
                      <a:pt x="848662" y="9132"/>
                      <a:pt x="864918" y="25388"/>
                    </a:cubicBezTo>
                    <a:cubicBezTo>
                      <a:pt x="881174" y="41644"/>
                      <a:pt x="890306" y="63691"/>
                      <a:pt x="890306" y="86680"/>
                    </a:cubicBezTo>
                    <a:lnTo>
                      <a:pt x="890306" y="547679"/>
                    </a:lnTo>
                    <a:cubicBezTo>
                      <a:pt x="890306" y="595551"/>
                      <a:pt x="851498" y="634359"/>
                      <a:pt x="803626" y="634359"/>
                    </a:cubicBezTo>
                    <a:lnTo>
                      <a:pt x="86680" y="634359"/>
                    </a:lnTo>
                    <a:cubicBezTo>
                      <a:pt x="63691" y="634359"/>
                      <a:pt x="41644" y="625227"/>
                      <a:pt x="25388" y="608971"/>
                    </a:cubicBezTo>
                    <a:cubicBezTo>
                      <a:pt x="9132" y="592716"/>
                      <a:pt x="0" y="570668"/>
                      <a:pt x="0" y="547679"/>
                    </a:cubicBezTo>
                    <a:lnTo>
                      <a:pt x="0" y="86680"/>
                    </a:lnTo>
                    <a:cubicBezTo>
                      <a:pt x="0" y="63691"/>
                      <a:pt x="9132" y="41644"/>
                      <a:pt x="25388" y="25388"/>
                    </a:cubicBezTo>
                    <a:cubicBezTo>
                      <a:pt x="41644" y="9132"/>
                      <a:pt x="63691" y="0"/>
                      <a:pt x="86680" y="0"/>
                    </a:cubicBezTo>
                    <a:close/>
                  </a:path>
                </a:pathLst>
              </a:custGeom>
              <a:solidFill>
                <a:srgbClr val="788FA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890306" cy="6724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73815" y="273815"/>
              <a:ext cx="5526086" cy="1395087"/>
              <a:chOff x="0" y="0"/>
              <a:chExt cx="810063" cy="20450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0063" cy="204504"/>
              </a:xfrm>
              <a:custGeom>
                <a:avLst/>
                <a:gdLst/>
                <a:ahLst/>
                <a:cxnLst/>
                <a:rect r="r" b="b" t="t" l="l"/>
                <a:pathLst>
                  <a:path h="204504" w="810063">
                    <a:moveTo>
                      <a:pt x="95266" y="0"/>
                    </a:moveTo>
                    <a:lnTo>
                      <a:pt x="714797" y="0"/>
                    </a:lnTo>
                    <a:cubicBezTo>
                      <a:pt x="767411" y="0"/>
                      <a:pt x="810063" y="42652"/>
                      <a:pt x="810063" y="95266"/>
                    </a:cubicBezTo>
                    <a:lnTo>
                      <a:pt x="810063" y="109238"/>
                    </a:lnTo>
                    <a:cubicBezTo>
                      <a:pt x="810063" y="161852"/>
                      <a:pt x="767411" y="204504"/>
                      <a:pt x="714797" y="204504"/>
                    </a:cubicBezTo>
                    <a:lnTo>
                      <a:pt x="95266" y="204504"/>
                    </a:lnTo>
                    <a:cubicBezTo>
                      <a:pt x="70000" y="204504"/>
                      <a:pt x="45769" y="194467"/>
                      <a:pt x="27903" y="176601"/>
                    </a:cubicBezTo>
                    <a:cubicBezTo>
                      <a:pt x="10037" y="158736"/>
                      <a:pt x="0" y="134504"/>
                      <a:pt x="0" y="109238"/>
                    </a:cubicBezTo>
                    <a:lnTo>
                      <a:pt x="0" y="95266"/>
                    </a:lnTo>
                    <a:cubicBezTo>
                      <a:pt x="0" y="42652"/>
                      <a:pt x="42652" y="0"/>
                      <a:pt x="952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810063" cy="2426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511379" y="449246"/>
              <a:ext cx="1044225" cy="1044225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A4C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684584" y="1955470"/>
              <a:ext cx="4704320" cy="2235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CAMERA-DEPENDENT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CALIBRATION NEEDED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VISUAL-ONLY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ALERT SENSITIVITY</a:t>
              </a:r>
            </a:p>
            <a:p>
              <a:pPr algn="ctr">
                <a:lnSpc>
                  <a:spcPts val="2694"/>
                </a:lnSpc>
              </a:pP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62870" y="726972"/>
              <a:ext cx="4031396" cy="486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2"/>
                </a:lnSpc>
              </a:pPr>
              <a:r>
                <a:rPr lang="en-US" b="true" sz="2613" spc="-185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Weeknesses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088296" y="6011011"/>
            <a:ext cx="4555116" cy="3247289"/>
            <a:chOff x="0" y="0"/>
            <a:chExt cx="6073488" cy="4329719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6073488" cy="4329719"/>
              <a:chOff x="0" y="0"/>
              <a:chExt cx="890306" cy="63468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90306" cy="634689"/>
              </a:xfrm>
              <a:custGeom>
                <a:avLst/>
                <a:gdLst/>
                <a:ahLst/>
                <a:cxnLst/>
                <a:rect r="r" b="b" t="t" l="l"/>
                <a:pathLst>
                  <a:path h="634689" w="890306">
                    <a:moveTo>
                      <a:pt x="86680" y="0"/>
                    </a:moveTo>
                    <a:lnTo>
                      <a:pt x="803626" y="0"/>
                    </a:lnTo>
                    <a:cubicBezTo>
                      <a:pt x="826615" y="0"/>
                      <a:pt x="848662" y="9132"/>
                      <a:pt x="864918" y="25388"/>
                    </a:cubicBezTo>
                    <a:cubicBezTo>
                      <a:pt x="881174" y="41644"/>
                      <a:pt x="890306" y="63691"/>
                      <a:pt x="890306" y="86680"/>
                    </a:cubicBezTo>
                    <a:lnTo>
                      <a:pt x="890306" y="548009"/>
                    </a:lnTo>
                    <a:cubicBezTo>
                      <a:pt x="890306" y="570998"/>
                      <a:pt x="881174" y="593045"/>
                      <a:pt x="864918" y="609301"/>
                    </a:cubicBezTo>
                    <a:cubicBezTo>
                      <a:pt x="848662" y="625556"/>
                      <a:pt x="826615" y="634689"/>
                      <a:pt x="803626" y="634689"/>
                    </a:cubicBezTo>
                    <a:lnTo>
                      <a:pt x="86680" y="634689"/>
                    </a:lnTo>
                    <a:cubicBezTo>
                      <a:pt x="63691" y="634689"/>
                      <a:pt x="41644" y="625556"/>
                      <a:pt x="25388" y="609301"/>
                    </a:cubicBezTo>
                    <a:cubicBezTo>
                      <a:pt x="9132" y="593045"/>
                      <a:pt x="0" y="570998"/>
                      <a:pt x="0" y="548009"/>
                    </a:cubicBezTo>
                    <a:lnTo>
                      <a:pt x="0" y="86680"/>
                    </a:lnTo>
                    <a:cubicBezTo>
                      <a:pt x="0" y="63691"/>
                      <a:pt x="9132" y="41644"/>
                      <a:pt x="25388" y="25388"/>
                    </a:cubicBezTo>
                    <a:cubicBezTo>
                      <a:pt x="41644" y="9132"/>
                      <a:pt x="63691" y="0"/>
                      <a:pt x="86680" y="0"/>
                    </a:cubicBezTo>
                    <a:close/>
                  </a:path>
                </a:pathLst>
              </a:custGeom>
              <a:solidFill>
                <a:srgbClr val="788FAE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890306" cy="6727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273815" y="273815"/>
              <a:ext cx="5526086" cy="1395087"/>
              <a:chOff x="0" y="0"/>
              <a:chExt cx="810063" cy="20450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0063" cy="204504"/>
              </a:xfrm>
              <a:custGeom>
                <a:avLst/>
                <a:gdLst/>
                <a:ahLst/>
                <a:cxnLst/>
                <a:rect r="r" b="b" t="t" l="l"/>
                <a:pathLst>
                  <a:path h="204504" w="810063">
                    <a:moveTo>
                      <a:pt x="95266" y="0"/>
                    </a:moveTo>
                    <a:lnTo>
                      <a:pt x="714797" y="0"/>
                    </a:lnTo>
                    <a:cubicBezTo>
                      <a:pt x="767411" y="0"/>
                      <a:pt x="810063" y="42652"/>
                      <a:pt x="810063" y="95266"/>
                    </a:cubicBezTo>
                    <a:lnTo>
                      <a:pt x="810063" y="109238"/>
                    </a:lnTo>
                    <a:cubicBezTo>
                      <a:pt x="810063" y="161852"/>
                      <a:pt x="767411" y="204504"/>
                      <a:pt x="714797" y="204504"/>
                    </a:cubicBezTo>
                    <a:lnTo>
                      <a:pt x="95266" y="204504"/>
                    </a:lnTo>
                    <a:cubicBezTo>
                      <a:pt x="70000" y="204504"/>
                      <a:pt x="45769" y="194467"/>
                      <a:pt x="27903" y="176601"/>
                    </a:cubicBezTo>
                    <a:cubicBezTo>
                      <a:pt x="10037" y="158736"/>
                      <a:pt x="0" y="134504"/>
                      <a:pt x="0" y="109238"/>
                    </a:cubicBezTo>
                    <a:lnTo>
                      <a:pt x="0" y="95266"/>
                    </a:lnTo>
                    <a:cubicBezTo>
                      <a:pt x="0" y="42652"/>
                      <a:pt x="42652" y="0"/>
                      <a:pt x="952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810063" cy="2426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4511379" y="449246"/>
              <a:ext cx="1044225" cy="1044225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A4C1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684584" y="1955470"/>
              <a:ext cx="4704320" cy="2237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COMPETITORS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LOW ADOPTION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MALFUNCTIONS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PRIVACY CONCERNS</a:t>
              </a:r>
            </a:p>
            <a:p>
              <a:pPr algn="ctr">
                <a:lnSpc>
                  <a:spcPts val="2694"/>
                </a:lnSpc>
              </a:pP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462870" y="726972"/>
              <a:ext cx="4031396" cy="486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2"/>
                </a:lnSpc>
              </a:pPr>
              <a:r>
                <a:rPr lang="en-US" b="true" sz="2613" spc="-185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Threats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529113" y="6011011"/>
            <a:ext cx="4555116" cy="3247289"/>
            <a:chOff x="0" y="0"/>
            <a:chExt cx="6073488" cy="4329719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6073488" cy="4329719"/>
              <a:chOff x="0" y="0"/>
              <a:chExt cx="890306" cy="634689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90306" cy="634689"/>
              </a:xfrm>
              <a:custGeom>
                <a:avLst/>
                <a:gdLst/>
                <a:ahLst/>
                <a:cxnLst/>
                <a:rect r="r" b="b" t="t" l="l"/>
                <a:pathLst>
                  <a:path h="634689" w="890306">
                    <a:moveTo>
                      <a:pt x="86680" y="0"/>
                    </a:moveTo>
                    <a:lnTo>
                      <a:pt x="803626" y="0"/>
                    </a:lnTo>
                    <a:cubicBezTo>
                      <a:pt x="826615" y="0"/>
                      <a:pt x="848662" y="9132"/>
                      <a:pt x="864918" y="25388"/>
                    </a:cubicBezTo>
                    <a:cubicBezTo>
                      <a:pt x="881174" y="41644"/>
                      <a:pt x="890306" y="63691"/>
                      <a:pt x="890306" y="86680"/>
                    </a:cubicBezTo>
                    <a:lnTo>
                      <a:pt x="890306" y="548009"/>
                    </a:lnTo>
                    <a:cubicBezTo>
                      <a:pt x="890306" y="570998"/>
                      <a:pt x="881174" y="593045"/>
                      <a:pt x="864918" y="609301"/>
                    </a:cubicBezTo>
                    <a:cubicBezTo>
                      <a:pt x="848662" y="625556"/>
                      <a:pt x="826615" y="634689"/>
                      <a:pt x="803626" y="634689"/>
                    </a:cubicBezTo>
                    <a:lnTo>
                      <a:pt x="86680" y="634689"/>
                    </a:lnTo>
                    <a:cubicBezTo>
                      <a:pt x="63691" y="634689"/>
                      <a:pt x="41644" y="625556"/>
                      <a:pt x="25388" y="609301"/>
                    </a:cubicBezTo>
                    <a:cubicBezTo>
                      <a:pt x="9132" y="593045"/>
                      <a:pt x="0" y="570998"/>
                      <a:pt x="0" y="548009"/>
                    </a:cubicBezTo>
                    <a:lnTo>
                      <a:pt x="0" y="86680"/>
                    </a:lnTo>
                    <a:cubicBezTo>
                      <a:pt x="0" y="63691"/>
                      <a:pt x="9132" y="41644"/>
                      <a:pt x="25388" y="25388"/>
                    </a:cubicBezTo>
                    <a:cubicBezTo>
                      <a:pt x="41644" y="9132"/>
                      <a:pt x="63691" y="0"/>
                      <a:pt x="86680" y="0"/>
                    </a:cubicBezTo>
                    <a:close/>
                  </a:path>
                </a:pathLst>
              </a:custGeom>
              <a:solidFill>
                <a:srgbClr val="788FAE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890306" cy="6727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273815" y="273815"/>
              <a:ext cx="5526086" cy="1395087"/>
              <a:chOff x="0" y="0"/>
              <a:chExt cx="810063" cy="204504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0063" cy="204504"/>
              </a:xfrm>
              <a:custGeom>
                <a:avLst/>
                <a:gdLst/>
                <a:ahLst/>
                <a:cxnLst/>
                <a:rect r="r" b="b" t="t" l="l"/>
                <a:pathLst>
                  <a:path h="204504" w="810063">
                    <a:moveTo>
                      <a:pt x="95266" y="0"/>
                    </a:moveTo>
                    <a:lnTo>
                      <a:pt x="714797" y="0"/>
                    </a:lnTo>
                    <a:cubicBezTo>
                      <a:pt x="767411" y="0"/>
                      <a:pt x="810063" y="42652"/>
                      <a:pt x="810063" y="95266"/>
                    </a:cubicBezTo>
                    <a:lnTo>
                      <a:pt x="810063" y="109238"/>
                    </a:lnTo>
                    <a:cubicBezTo>
                      <a:pt x="810063" y="161852"/>
                      <a:pt x="767411" y="204504"/>
                      <a:pt x="714797" y="204504"/>
                    </a:cubicBezTo>
                    <a:lnTo>
                      <a:pt x="95266" y="204504"/>
                    </a:lnTo>
                    <a:cubicBezTo>
                      <a:pt x="70000" y="204504"/>
                      <a:pt x="45769" y="194467"/>
                      <a:pt x="27903" y="176601"/>
                    </a:cubicBezTo>
                    <a:cubicBezTo>
                      <a:pt x="10037" y="158736"/>
                      <a:pt x="0" y="134504"/>
                      <a:pt x="0" y="109238"/>
                    </a:cubicBezTo>
                    <a:lnTo>
                      <a:pt x="0" y="95266"/>
                    </a:lnTo>
                    <a:cubicBezTo>
                      <a:pt x="0" y="42652"/>
                      <a:pt x="42652" y="0"/>
                      <a:pt x="952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810063" cy="2426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4511379" y="449246"/>
              <a:ext cx="1044225" cy="1044225"/>
              <a:chOff x="0" y="0"/>
              <a:chExt cx="812800" cy="8128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A4C1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sp>
          <p:nvSpPr>
            <p:cNvPr name="TextBox 68" id="68"/>
            <p:cNvSpPr txBox="true"/>
            <p:nvPr/>
          </p:nvSpPr>
          <p:spPr>
            <a:xfrm rot="0">
              <a:off x="684584" y="1955470"/>
              <a:ext cx="4704320" cy="2237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ADAS INTEGRATION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FLEET EXPANSION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SDG ALIGNMENT</a:t>
              </a:r>
            </a:p>
            <a:p>
              <a:pPr algn="ctr">
                <a:lnSpc>
                  <a:spcPts val="2694"/>
                </a:lnSpc>
              </a:pPr>
              <a:r>
                <a:rPr lang="en-US" b="true" sz="2494" spc="-177">
                  <a:solidFill>
                    <a:srgbClr val="F4F4F4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DATA INSIGHTS</a:t>
              </a:r>
            </a:p>
            <a:p>
              <a:pPr algn="ctr">
                <a:lnSpc>
                  <a:spcPts val="2694"/>
                </a:lnSpc>
              </a:pP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462870" y="726972"/>
              <a:ext cx="4031396" cy="486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2"/>
                </a:lnSpc>
              </a:pPr>
              <a:r>
                <a:rPr lang="en-US" b="true" sz="2613" spc="-185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Oppourtunities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8908747" y="1089955"/>
            <a:ext cx="2928668" cy="57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76"/>
              </a:lnSpc>
              <a:spcBef>
                <a:spcPct val="0"/>
              </a:spcBef>
            </a:pPr>
            <a:r>
              <a:rPr lang="en-US" b="true" sz="3411" spc="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04572" y="627964"/>
            <a:ext cx="2110981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8090" y="3707272"/>
            <a:ext cx="16440539" cy="5551028"/>
            <a:chOff x="0" y="0"/>
            <a:chExt cx="4330018" cy="14619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30019" cy="1461999"/>
            </a:xfrm>
            <a:custGeom>
              <a:avLst/>
              <a:gdLst/>
              <a:ahLst/>
              <a:cxnLst/>
              <a:rect r="r" b="b" t="t" l="l"/>
              <a:pathLst>
                <a:path h="1461999" w="4330019">
                  <a:moveTo>
                    <a:pt x="12244" y="0"/>
                  </a:moveTo>
                  <a:lnTo>
                    <a:pt x="4317775" y="0"/>
                  </a:lnTo>
                  <a:cubicBezTo>
                    <a:pt x="4324537" y="0"/>
                    <a:pt x="4330019" y="5482"/>
                    <a:pt x="4330019" y="12244"/>
                  </a:cubicBezTo>
                  <a:lnTo>
                    <a:pt x="4330019" y="1449756"/>
                  </a:lnTo>
                  <a:cubicBezTo>
                    <a:pt x="4330019" y="1456517"/>
                    <a:pt x="4324537" y="1461999"/>
                    <a:pt x="4317775" y="1461999"/>
                  </a:cubicBezTo>
                  <a:lnTo>
                    <a:pt x="12244" y="1461999"/>
                  </a:lnTo>
                  <a:cubicBezTo>
                    <a:pt x="5482" y="1461999"/>
                    <a:pt x="0" y="1456517"/>
                    <a:pt x="0" y="1449756"/>
                  </a:cubicBezTo>
                  <a:lnTo>
                    <a:pt x="0" y="12244"/>
                  </a:lnTo>
                  <a:cubicBezTo>
                    <a:pt x="0" y="5482"/>
                    <a:pt x="5482" y="0"/>
                    <a:pt x="12244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30018" cy="1500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230523" y="7454169"/>
            <a:ext cx="6406989" cy="56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1"/>
              </a:lnSpc>
            </a:pPr>
            <a:r>
              <a:rPr lang="en-US" sz="3336" u="sng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  <a:hlinkClick r:id="rId4" tooltip="https://drive.google.com/file/d/1Vcc7Qkap6SO8cSctWwiOIdbTolcdF5nL/view?usp=sharing"/>
              </a:rPr>
              <a:t>Vigilant Drive Working Video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96029" y="8540152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208086" y="2183466"/>
            <a:ext cx="2373670" cy="2373670"/>
          </a:xfrm>
          <a:custGeom>
            <a:avLst/>
            <a:gdLst/>
            <a:ahLst/>
            <a:cxnLst/>
            <a:rect r="r" b="b" t="t" l="l"/>
            <a:pathLst>
              <a:path h="2373670" w="2373670">
                <a:moveTo>
                  <a:pt x="0" y="0"/>
                </a:moveTo>
                <a:lnTo>
                  <a:pt x="2373670" y="0"/>
                </a:lnTo>
                <a:lnTo>
                  <a:pt x="2373670" y="2373670"/>
                </a:lnTo>
                <a:lnTo>
                  <a:pt x="0" y="23736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06131" y="789347"/>
            <a:ext cx="9772788" cy="202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Prototype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210776" y="5585226"/>
            <a:ext cx="3075708" cy="776477"/>
            <a:chOff x="0" y="0"/>
            <a:chExt cx="810063" cy="204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58033" y="4571582"/>
            <a:ext cx="581194" cy="58119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15100104" y="3188832"/>
            <a:ext cx="3075708" cy="776477"/>
            <a:chOff x="0" y="0"/>
            <a:chExt cx="810063" cy="2045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0063" cy="204504"/>
            </a:xfrm>
            <a:custGeom>
              <a:avLst/>
              <a:gdLst/>
              <a:ahLst/>
              <a:cxnLst/>
              <a:rect r="r" b="b" t="t" l="l"/>
              <a:pathLst>
                <a:path h="204504" w="810063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6347361" y="4397760"/>
            <a:ext cx="581194" cy="58119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04572" y="627964"/>
            <a:ext cx="2110981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95755" y="5296706"/>
            <a:ext cx="14863545" cy="128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6"/>
              </a:lnSpc>
            </a:pPr>
            <a:r>
              <a:rPr lang="en-US" sz="3711" spc="-215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Watch VigilantDrive in action – detecting driver drowsiness in real time.</a:t>
            </a:r>
          </a:p>
          <a:p>
            <a:pPr algn="just">
              <a:lnSpc>
                <a:spcPts val="5196"/>
              </a:lnSpc>
              <a:spcBef>
                <a:spcPct val="0"/>
              </a:spcBef>
            </a:pPr>
            <a:r>
              <a:rPr lang="en-US" sz="3711" spc="-215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Click</a:t>
            </a:r>
            <a:r>
              <a:rPr lang="en-US" sz="3711" spc="-215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 the link to see alerts and proactive safety measures in action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48081" y="7416458"/>
            <a:ext cx="1170872" cy="62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6"/>
              </a:lnSpc>
              <a:spcBef>
                <a:spcPct val="0"/>
              </a:spcBef>
            </a:pPr>
            <a:r>
              <a:rPr lang="en-US" b="true" sz="3711" spc="-215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Link: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0265" y="1980846"/>
            <a:ext cx="17587469" cy="4107425"/>
            <a:chOff x="0" y="0"/>
            <a:chExt cx="4632091" cy="1081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32091" cy="1081791"/>
            </a:xfrm>
            <a:custGeom>
              <a:avLst/>
              <a:gdLst/>
              <a:ahLst/>
              <a:cxnLst/>
              <a:rect r="r" b="b" t="t" l="l"/>
              <a:pathLst>
                <a:path h="1081791" w="463209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1059341"/>
                  </a:lnTo>
                  <a:cubicBezTo>
                    <a:pt x="4632091" y="1071740"/>
                    <a:pt x="4622039" y="1081791"/>
                    <a:pt x="4609641" y="1081791"/>
                  </a:cubicBezTo>
                  <a:lnTo>
                    <a:pt x="22450" y="1081791"/>
                  </a:lnTo>
                  <a:cubicBezTo>
                    <a:pt x="10051" y="1081791"/>
                    <a:pt x="0" y="1071740"/>
                    <a:pt x="0" y="1059341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32091" cy="1119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2162302" y="1121175"/>
            <a:ext cx="4574117" cy="9480035"/>
          </a:xfrm>
          <a:custGeom>
            <a:avLst/>
            <a:gdLst/>
            <a:ahLst/>
            <a:cxnLst/>
            <a:rect r="r" b="b" t="t" l="l"/>
            <a:pathLst>
              <a:path h="9480035" w="4574117">
                <a:moveTo>
                  <a:pt x="4574117" y="0"/>
                </a:moveTo>
                <a:lnTo>
                  <a:pt x="0" y="0"/>
                </a:lnTo>
                <a:lnTo>
                  <a:pt x="0" y="9480035"/>
                </a:lnTo>
                <a:lnTo>
                  <a:pt x="4574117" y="9480035"/>
                </a:lnTo>
                <a:lnTo>
                  <a:pt x="457411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8746" y="4094201"/>
            <a:ext cx="6494599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7644" y="7886644"/>
            <a:ext cx="1371656" cy="1371656"/>
          </a:xfrm>
          <a:custGeom>
            <a:avLst/>
            <a:gdLst/>
            <a:ahLst/>
            <a:cxnLst/>
            <a:rect r="r" b="b" t="t" l="l"/>
            <a:pathLst>
              <a:path h="1371656" w="1371656">
                <a:moveTo>
                  <a:pt x="0" y="0"/>
                </a:moveTo>
                <a:lnTo>
                  <a:pt x="1371656" y="0"/>
                </a:lnTo>
                <a:lnTo>
                  <a:pt x="1371656" y="1371656"/>
                </a:lnTo>
                <a:lnTo>
                  <a:pt x="0" y="13716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87559" y="2649294"/>
            <a:ext cx="2770529" cy="2770529"/>
          </a:xfrm>
          <a:custGeom>
            <a:avLst/>
            <a:gdLst/>
            <a:ahLst/>
            <a:cxnLst/>
            <a:rect r="r" b="b" t="t" l="l"/>
            <a:pathLst>
              <a:path h="2770529" w="2770529">
                <a:moveTo>
                  <a:pt x="0" y="0"/>
                </a:moveTo>
                <a:lnTo>
                  <a:pt x="2770529" y="0"/>
                </a:lnTo>
                <a:lnTo>
                  <a:pt x="2770529" y="2770528"/>
                </a:lnTo>
                <a:lnTo>
                  <a:pt x="0" y="277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61475" y="6878845"/>
            <a:ext cx="10463166" cy="2000631"/>
            <a:chOff x="0" y="0"/>
            <a:chExt cx="2755731" cy="5269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55731" cy="526915"/>
            </a:xfrm>
            <a:custGeom>
              <a:avLst/>
              <a:gdLst/>
              <a:ahLst/>
              <a:cxnLst/>
              <a:rect r="r" b="b" t="t" l="l"/>
              <a:pathLst>
                <a:path h="526915" w="2755731">
                  <a:moveTo>
                    <a:pt x="37736" y="0"/>
                  </a:moveTo>
                  <a:lnTo>
                    <a:pt x="2717995" y="0"/>
                  </a:lnTo>
                  <a:cubicBezTo>
                    <a:pt x="2728003" y="0"/>
                    <a:pt x="2737601" y="3976"/>
                    <a:pt x="2744678" y="11053"/>
                  </a:cubicBezTo>
                  <a:cubicBezTo>
                    <a:pt x="2751755" y="18129"/>
                    <a:pt x="2755731" y="27728"/>
                    <a:pt x="2755731" y="37736"/>
                  </a:cubicBezTo>
                  <a:lnTo>
                    <a:pt x="2755731" y="489179"/>
                  </a:lnTo>
                  <a:cubicBezTo>
                    <a:pt x="2755731" y="499187"/>
                    <a:pt x="2751755" y="508786"/>
                    <a:pt x="2744678" y="515863"/>
                  </a:cubicBezTo>
                  <a:cubicBezTo>
                    <a:pt x="2737601" y="522939"/>
                    <a:pt x="2728003" y="526915"/>
                    <a:pt x="2717995" y="526915"/>
                  </a:cubicBezTo>
                  <a:lnTo>
                    <a:pt x="37736" y="526915"/>
                  </a:lnTo>
                  <a:cubicBezTo>
                    <a:pt x="27728" y="526915"/>
                    <a:pt x="18129" y="522939"/>
                    <a:pt x="11053" y="515863"/>
                  </a:cubicBezTo>
                  <a:cubicBezTo>
                    <a:pt x="3976" y="508786"/>
                    <a:pt x="0" y="499187"/>
                    <a:pt x="0" y="489179"/>
                  </a:cubicBezTo>
                  <a:lnTo>
                    <a:pt x="0" y="37736"/>
                  </a:lnTo>
                  <a:cubicBezTo>
                    <a:pt x="0" y="27728"/>
                    <a:pt x="3976" y="18129"/>
                    <a:pt x="11053" y="11053"/>
                  </a:cubicBezTo>
                  <a:cubicBezTo>
                    <a:pt x="18129" y="3976"/>
                    <a:pt x="27728" y="0"/>
                    <a:pt x="37736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55731" cy="565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3875" y="7031245"/>
            <a:ext cx="9679933" cy="776477"/>
            <a:chOff x="0" y="0"/>
            <a:chExt cx="2549447" cy="2045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9447" cy="204504"/>
            </a:xfrm>
            <a:custGeom>
              <a:avLst/>
              <a:gdLst/>
              <a:ahLst/>
              <a:cxnLst/>
              <a:rect r="r" b="b" t="t" l="l"/>
              <a:pathLst>
                <a:path h="204504" w="2549447">
                  <a:moveTo>
                    <a:pt x="40789" y="0"/>
                  </a:moveTo>
                  <a:lnTo>
                    <a:pt x="2508658" y="0"/>
                  </a:lnTo>
                  <a:cubicBezTo>
                    <a:pt x="2519476" y="0"/>
                    <a:pt x="2529851" y="4297"/>
                    <a:pt x="2537500" y="11947"/>
                  </a:cubicBezTo>
                  <a:cubicBezTo>
                    <a:pt x="2545150" y="19596"/>
                    <a:pt x="2549447" y="29971"/>
                    <a:pt x="2549447" y="40789"/>
                  </a:cubicBezTo>
                  <a:lnTo>
                    <a:pt x="2549447" y="163715"/>
                  </a:lnTo>
                  <a:cubicBezTo>
                    <a:pt x="2549447" y="174533"/>
                    <a:pt x="2545150" y="184908"/>
                    <a:pt x="2537500" y="192557"/>
                  </a:cubicBezTo>
                  <a:cubicBezTo>
                    <a:pt x="2529851" y="200207"/>
                    <a:pt x="2519476" y="204504"/>
                    <a:pt x="2508658" y="204504"/>
                  </a:cubicBezTo>
                  <a:lnTo>
                    <a:pt x="40789" y="204504"/>
                  </a:lnTo>
                  <a:cubicBezTo>
                    <a:pt x="29971" y="204504"/>
                    <a:pt x="19596" y="200207"/>
                    <a:pt x="11947" y="192557"/>
                  </a:cubicBezTo>
                  <a:cubicBezTo>
                    <a:pt x="4297" y="184908"/>
                    <a:pt x="0" y="174533"/>
                    <a:pt x="0" y="163715"/>
                  </a:cubicBezTo>
                  <a:lnTo>
                    <a:pt x="0" y="40789"/>
                  </a:lnTo>
                  <a:cubicBezTo>
                    <a:pt x="0" y="29971"/>
                    <a:pt x="4297" y="19596"/>
                    <a:pt x="11947" y="11947"/>
                  </a:cubicBezTo>
                  <a:cubicBezTo>
                    <a:pt x="19596" y="4297"/>
                    <a:pt x="29971" y="0"/>
                    <a:pt x="407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9447" cy="242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72824" y="7128887"/>
            <a:ext cx="581194" cy="5811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151217" y="8251670"/>
            <a:ext cx="3057913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3"/>
              </a:lnSpc>
            </a:pPr>
            <a:r>
              <a:rPr lang="en-US" b="true" sz="2299" spc="-163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TEAM LOCOMAKERS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133" y="7240594"/>
            <a:ext cx="7665867" cy="39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851" spc="-202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Stay Alert. Save Lives. Every Mile Counts.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4572" y="627964"/>
            <a:ext cx="2110981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TEAM LOCOMAKERS.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4114" cy="214543"/>
            </a:xfrm>
            <a:custGeom>
              <a:avLst/>
              <a:gdLst/>
              <a:ahLst/>
              <a:cxnLst/>
              <a:rect r="r" b="b" t="t" l="l"/>
              <a:pathLst>
                <a:path h="214543" w="249411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60786" y="628301"/>
            <a:ext cx="1665830" cy="588932"/>
            <a:chOff x="0" y="0"/>
            <a:chExt cx="438737" cy="1551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8737" cy="155110"/>
            </a:xfrm>
            <a:custGeom>
              <a:avLst/>
              <a:gdLst/>
              <a:ahLst/>
              <a:cxnLst/>
              <a:rect r="r" b="b" t="t" l="l"/>
              <a:pathLst>
                <a:path h="155110" w="438737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736419" y="677760"/>
            <a:ext cx="522881" cy="443415"/>
          </a:xfrm>
          <a:custGeom>
            <a:avLst/>
            <a:gdLst/>
            <a:ahLst/>
            <a:cxnLst/>
            <a:rect r="r" b="b" t="t" l="l"/>
            <a:pathLst>
              <a:path h="443415" w="522881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t="0" r="-308968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30046" y="2282768"/>
            <a:ext cx="15767813" cy="3912159"/>
            <a:chOff x="0" y="0"/>
            <a:chExt cx="2442847" cy="6060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2847" cy="606096"/>
            </a:xfrm>
            <a:custGeom>
              <a:avLst/>
              <a:gdLst/>
              <a:ahLst/>
              <a:cxnLst/>
              <a:rect r="r" b="b" t="t" l="l"/>
              <a:pathLst>
                <a:path h="606096" w="2442847">
                  <a:moveTo>
                    <a:pt x="15712" y="0"/>
                  </a:moveTo>
                  <a:lnTo>
                    <a:pt x="2427135" y="0"/>
                  </a:lnTo>
                  <a:cubicBezTo>
                    <a:pt x="2431302" y="0"/>
                    <a:pt x="2435299" y="1655"/>
                    <a:pt x="2438245" y="4602"/>
                  </a:cubicBezTo>
                  <a:cubicBezTo>
                    <a:pt x="2441192" y="7548"/>
                    <a:pt x="2442847" y="11545"/>
                    <a:pt x="2442847" y="15712"/>
                  </a:cubicBezTo>
                  <a:lnTo>
                    <a:pt x="2442847" y="590384"/>
                  </a:lnTo>
                  <a:cubicBezTo>
                    <a:pt x="2442847" y="594551"/>
                    <a:pt x="2441192" y="598547"/>
                    <a:pt x="2438245" y="601494"/>
                  </a:cubicBezTo>
                  <a:cubicBezTo>
                    <a:pt x="2435299" y="604440"/>
                    <a:pt x="2431302" y="606096"/>
                    <a:pt x="2427135" y="606096"/>
                  </a:cubicBezTo>
                  <a:lnTo>
                    <a:pt x="15712" y="606096"/>
                  </a:lnTo>
                  <a:cubicBezTo>
                    <a:pt x="11545" y="606096"/>
                    <a:pt x="7548" y="604440"/>
                    <a:pt x="4602" y="601494"/>
                  </a:cubicBezTo>
                  <a:cubicBezTo>
                    <a:pt x="1655" y="598547"/>
                    <a:pt x="0" y="594551"/>
                    <a:pt x="0" y="590384"/>
                  </a:cubicBezTo>
                  <a:lnTo>
                    <a:pt x="0" y="15712"/>
                  </a:lnTo>
                  <a:cubicBezTo>
                    <a:pt x="0" y="11545"/>
                    <a:pt x="1655" y="7548"/>
                    <a:pt x="4602" y="4602"/>
                  </a:cubicBezTo>
                  <a:cubicBezTo>
                    <a:pt x="7548" y="1655"/>
                    <a:pt x="11545" y="0"/>
                    <a:pt x="1571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6972" r="0" b="-4155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824920" y="1823406"/>
            <a:ext cx="1822999" cy="18229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95354" y="2393840"/>
            <a:ext cx="682130" cy="68213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335578" y="4238848"/>
            <a:ext cx="2235519" cy="1956080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790912" y="7052375"/>
            <a:ext cx="2160637" cy="2160637"/>
          </a:xfrm>
          <a:custGeom>
            <a:avLst/>
            <a:gdLst/>
            <a:ahLst/>
            <a:cxnLst/>
            <a:rect r="r" b="b" t="t" l="l"/>
            <a:pathLst>
              <a:path h="2160637" w="2160637">
                <a:moveTo>
                  <a:pt x="0" y="0"/>
                </a:moveTo>
                <a:lnTo>
                  <a:pt x="2160637" y="0"/>
                </a:lnTo>
                <a:lnTo>
                  <a:pt x="2160637" y="2160637"/>
                </a:lnTo>
                <a:lnTo>
                  <a:pt x="0" y="2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441856" y="729745"/>
            <a:ext cx="166255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29803" y="731958"/>
            <a:ext cx="1907082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9910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94836" y="729745"/>
            <a:ext cx="2224975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4572" y="627964"/>
            <a:ext cx="1888114" cy="56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5"/>
              </a:lnSpc>
            </a:pPr>
            <a:r>
              <a:rPr lang="en-US" b="true" sz="2051" spc="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THYNK </a:t>
            </a:r>
            <a:r>
              <a:rPr lang="en-US" sz="2051" spc="4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UNLIMITED.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357" y="6858608"/>
            <a:ext cx="5599757" cy="99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r>
              <a:rPr lang="en-US" sz="5811" spc="-337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AI in Decision-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6357" y="8101636"/>
            <a:ext cx="4415751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72548" y="7252202"/>
            <a:ext cx="6337924" cy="1618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4"/>
              </a:lnSpc>
            </a:pPr>
            <a:r>
              <a:rPr lang="en-US" sz="2100" spc="-13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AI-powered analytics tools are helping executives and managers make faster, more accurate decisions. Predictive modeling and real-time dashboards are becoming essential in identifying market shifts, customer behaviors, and operational bottlenecks.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DAG1Sa54J2U</dc:identifier>
  <dcterms:modified xsi:type="dcterms:W3CDTF">2011-08-01T06:04:30Z</dcterms:modified>
  <cp:revision>1</cp:revision>
  <dc:title>AI for</dc:title>
</cp:coreProperties>
</file>